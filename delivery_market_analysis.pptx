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Delivery Market Analysis</a:t>
            </a:r>
          </a:p>
        </p:txBody>
      </p:sp>
      <p:sp>
        <p:nvSpPr>
          <p:cNvPr id="3" name="Content Placeholder 2"/>
          <p:cNvSpPr>
            <a:spLocks noGrp="1"/>
          </p:cNvSpPr>
          <p:nvPr>
            <p:ph idx="1"/>
          </p:nvPr>
        </p:nvSpPr>
        <p:spPr/>
        <p:txBody>
          <a:bodyPr/>
          <a:lstStyle/>
          <a:p>
            <a:r>
              <a:t>Welcome everyone. This presentation covers the analysis of the delivery market, focusing on restaurants, menu items, and delivery patterns. Our goal is to uncover actionable insights for both consumers and restaurant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Mission Objectives</a:t>
            </a:r>
          </a:p>
        </p:txBody>
      </p:sp>
      <p:sp>
        <p:nvSpPr>
          <p:cNvPr id="3" name="Content Placeholder 2"/>
          <p:cNvSpPr>
            <a:spLocks noGrp="1"/>
          </p:cNvSpPr>
          <p:nvPr>
            <p:ph idx="1"/>
          </p:nvPr>
        </p:nvSpPr>
        <p:spPr/>
        <p:txBody>
          <a:bodyPr/>
          <a:lstStyle/>
          <a:p>
            <a:r>
              <a:t>Our mission is to enhance data engineering, SQL querying, geospatial analysis, and data storytelling skills. We aim to extract actionable insights from delivery data, uncovering trends and patterns that support strategic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Business Questions</a:t>
            </a:r>
          </a:p>
        </p:txBody>
      </p:sp>
      <p:sp>
        <p:nvSpPr>
          <p:cNvPr id="3" name="Content Placeholder 2"/>
          <p:cNvSpPr>
            <a:spLocks noGrp="1"/>
          </p:cNvSpPr>
          <p:nvPr>
            <p:ph idx="1"/>
          </p:nvPr>
        </p:nvSpPr>
        <p:spPr/>
        <p:txBody>
          <a:bodyPr/>
          <a:lstStyle/>
          <a:p>
            <a:r>
              <a:t>We focused on nine main questions, including price distribution, restaurant density, top pizza restaurants, mapping favorite dishes, delivery coverage, vegetarian options, and the World Hummus Order. Additionally, we explored two original questions on price-to-rating ratio and cuisine-specific delivery fees.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Price Distribution of Menu Items</a:t>
            </a:r>
          </a:p>
        </p:txBody>
      </p:sp>
      <p:sp>
        <p:nvSpPr>
          <p:cNvPr id="3" name="Content Placeholder 2"/>
          <p:cNvSpPr>
            <a:spLocks noGrp="1"/>
          </p:cNvSpPr>
          <p:nvPr>
            <p:ph idx="1"/>
          </p:nvPr>
        </p:nvSpPr>
        <p:spPr/>
        <p:txBody>
          <a:bodyPr/>
          <a:lstStyle/>
          <a:p>
            <a:r>
              <a:t>Understanding menu item prices helps us identify market trends and potential pricing gaps. We built a histogram to visualize the distribution of prices across all items. This allows us to see which price ranges dominate and which items are premium.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Distribution of Restaurants per Location</a:t>
            </a:r>
          </a:p>
        </p:txBody>
      </p:sp>
      <p:sp>
        <p:nvSpPr>
          <p:cNvPr id="3" name="Content Placeholder 2"/>
          <p:cNvSpPr>
            <a:spLocks noGrp="1"/>
          </p:cNvSpPr>
          <p:nvPr>
            <p:ph idx="1"/>
          </p:nvPr>
        </p:nvSpPr>
        <p:spPr/>
        <p:txBody>
          <a:bodyPr/>
          <a:lstStyle/>
          <a:p>
            <a:r>
              <a:t>Knowing restaurant density informs coverage and competition in each area. We aggregated restaurants by city and postal code and visualized them on a map. This highlighted high-density zones and potential underserved regions for market expansion.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Top 10 Pizza Restaurants by Rating</a:t>
            </a:r>
          </a:p>
        </p:txBody>
      </p:sp>
      <p:sp>
        <p:nvSpPr>
          <p:cNvPr id="3" name="Content Placeholder 2"/>
          <p:cNvSpPr>
            <a:spLocks noGrp="1"/>
          </p:cNvSpPr>
          <p:nvPr>
            <p:ph idx="1"/>
          </p:nvPr>
        </p:nvSpPr>
        <p:spPr/>
        <p:txBody>
          <a:bodyPr/>
          <a:lstStyle/>
          <a:p>
            <a:r>
              <a:t>Pizza is a highly competitive category. We identified the top 10 pizza restaurants by rating and rating count. This table shows the restaurant name, city, rating, delivery fee, and main pizza category, helping consumers and partners recognize top performers.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Map: Kapsalons / Favorite Dish Locations</a:t>
            </a:r>
          </a:p>
        </p:txBody>
      </p:sp>
      <p:sp>
        <p:nvSpPr>
          <p:cNvPr id="3" name="Content Placeholder 2"/>
          <p:cNvSpPr>
            <a:spLocks noGrp="1"/>
          </p:cNvSpPr>
          <p:nvPr>
            <p:ph idx="1"/>
          </p:nvPr>
        </p:nvSpPr>
        <p:spPr/>
        <p:txBody>
          <a:bodyPr/>
          <a:lstStyle/>
          <a:p>
            <a:r>
              <a:t>Customers often seek specific dishes like kapsalons. We aggregated restaurants offering this dish, calculated the average price, and mapped their locations. The map highlights both popular locations and price variations across cities.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Delivery Dead Zones</a:t>
            </a:r>
          </a:p>
        </p:txBody>
      </p:sp>
      <p:sp>
        <p:nvSpPr>
          <p:cNvPr id="3" name="Content Placeholder 2"/>
          <p:cNvSpPr>
            <a:spLocks noGrp="1"/>
          </p:cNvSpPr>
          <p:nvPr>
            <p:ph idx="1"/>
          </p:nvPr>
        </p:nvSpPr>
        <p:spPr/>
        <p:txBody>
          <a:bodyPr/>
          <a:lstStyle/>
          <a:p>
            <a:r>
              <a:t>Some areas have very few restaurants, creating delivery dead zones. We identified postal codes with fewer than 10 restaurants and mapped them. This visualization reveals underserved regions that could benefit from new restaurant entries.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Vegetarian &amp; Vegan Availability</a:t>
            </a:r>
          </a:p>
        </p:txBody>
      </p:sp>
      <p:sp>
        <p:nvSpPr>
          <p:cNvPr id="3" name="Content Placeholder 2"/>
          <p:cNvSpPr>
            <a:spLocks noGrp="1"/>
          </p:cNvSpPr>
          <p:nvPr>
            <p:ph idx="1"/>
          </p:nvPr>
        </p:nvSpPr>
        <p:spPr/>
        <p:txBody>
          <a:bodyPr/>
          <a:lstStyle/>
          <a:p>
            <a:r>
              <a:t>Plant-based options are important for many customers. We filtered menu items containing ‘veg’, ‘vegetarian’, or ‘vegan’ and aggregated their availability by restaurant and city. The map shows which cities offer the most vegetarian and vegan options, supporting customer choice.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World Hummus Order (WHO)</a:t>
            </a:r>
          </a:p>
        </p:txBody>
      </p:sp>
      <p:sp>
        <p:nvSpPr>
          <p:cNvPr id="3" name="Content Placeholder 2"/>
          <p:cNvSpPr>
            <a:spLocks noGrp="1"/>
          </p:cNvSpPr>
          <p:nvPr>
            <p:ph idx="1"/>
          </p:nvPr>
        </p:nvSpPr>
        <p:spPr/>
        <p:txBody>
          <a:bodyPr/>
          <a:lstStyle/>
          <a:p>
            <a:r>
              <a:t>Hummus is a signature item across many restaurants. We identified the top 3 hummus-serving restaurants based on rating and number of hummus items. This highlights specialty restaurants and their cities, showcasing the leaders in hummus offerings.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Original Question – Highest Avg Delivery Fee per City</a:t>
            </a:r>
          </a:p>
        </p:txBody>
      </p:sp>
      <p:sp>
        <p:nvSpPr>
          <p:cNvPr id="3" name="Content Placeholder 2"/>
          <p:cNvSpPr>
            <a:spLocks noGrp="1"/>
          </p:cNvSpPr>
          <p:nvPr>
            <p:ph idx="1"/>
          </p:nvPr>
        </p:nvSpPr>
        <p:spPr/>
        <p:txBody>
          <a:bodyPr/>
          <a:lstStyle/>
          <a:p>
            <a:r>
              <a:t>Delivery costs vary across cities and cuisines. We calculated the average delivery fee per cuisine type and city. This analysis highlights which cuisines command higher delivery fees and can inform pricing and market strategies.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Price-to-Rating Ratio</a:t>
            </a:r>
          </a:p>
        </p:txBody>
      </p:sp>
      <p:sp>
        <p:nvSpPr>
          <p:cNvPr id="3" name="Content Placeholder 2"/>
          <p:cNvSpPr>
            <a:spLocks noGrp="1"/>
          </p:cNvSpPr>
          <p:nvPr>
            <p:ph idx="1"/>
          </p:nvPr>
        </p:nvSpPr>
        <p:spPr/>
        <p:txBody>
          <a:bodyPr/>
          <a:lstStyle/>
          <a:p>
            <a:r>
              <a:t>Customers seek value for money, combining quality and cost. We created a ‘true price/rating’ metric that incorporates menu price, delivery fee, and rating. The scatter plot shows restaurants offering the best value, guiding customer decisions and competitive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